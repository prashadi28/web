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F4E79"/>
                </a:solidFill>
              </a:rPr>
              <a:t>Smart Multi-Sensor Wearable for Real-Time Elderly Health Anomaly and Fall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57607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>
                <a:solidFill>
                  <a:srgbClr val="1E1E1E"/>
                </a:solidFill>
              </a:rPr>
              <a:t>Comments addressed in the revised proposal: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Proposal comments are now broken into four ML-driven elderly-care components.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Each sensor is justified by a specific pain point, dataset, feature set, and alert output.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Market comparison, product improvement, comfort design, and commercialization are integrated.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The device is framed as an early-warning assistive system rather than a diagnostic replacement.</a:t>
            </a:r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200" y="1417320"/>
            <a:ext cx="2996079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644652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E6E6E"/>
                </a:solidFill>
              </a:rPr>
              <a:t>Overall project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F4E79"/>
                </a:solidFill>
              </a:rPr>
              <a:t>Smart Multi-Sensor Wearable for Real-Time Elderly Health Anomaly and Fall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57607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>
                <a:solidFill>
                  <a:srgbClr val="1E1E1E"/>
                </a:solidFill>
              </a:rPr>
              <a:t>Problem, impact, and gravity: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Elderly users may experience hidden arrhythmia, unnoticed falls, early infection-related deterioration, and unspoken stress or pain.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Who benefits: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Elderly individuals, family caregivers, care homes, recovery settings, and monitoring staff.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Design excellence: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A four-phase dataset strategy, modular embedded intelligence, and caregiver-friendly alerts.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1-2 minute video note: demo clip can be inserted once the working prototype walkthrough is recorded.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542544"/>
            <a:ext cx="3657600" cy="19557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644652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E6E6E"/>
                </a:solidFill>
              </a:rPr>
              <a:t>Overall project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686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E1E1E"/>
                </a:solidFill>
              </a:rPr>
              <a:t>Component holder focus: explain the sub-problem, prototype logic, design contribution, and why this phase matters to elderly care.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F4E79"/>
                </a:solidFill>
              </a:rPr>
              <a:t>Phase 1: Arrhythmia Detection 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5394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6E6E6E"/>
                </a:solidFill>
              </a:rPr>
              <a:t>ECG-based anomaly detection using the MIT-BIH Arrhythmia Database</a:t>
            </a:r>
          </a:p>
          <a:p>
            <a:r>
              <a:rPr sz="1400">
                <a:solidFill>
                  <a:srgbClr val="6E6E6E"/>
                </a:solidFill>
              </a:rPr>
              <a:t>Specialization: B.Sc. (Hons) in Information Technology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932" y="1325880"/>
            <a:ext cx="3243134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77440" y="6400800"/>
            <a:ext cx="6583680" cy="256032"/>
          </a:xfrm>
          <a:prstGeom prst="rect">
            <a:avLst/>
          </a:prstGeom>
          <a:solidFill>
            <a:srgbClr val="DBEA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E1E1E"/>
                </a:solidFill>
              </a:rPr>
              <a:t>R26-IT-108 | Smart Wearable Team | PP1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Phase 1: Arrhythmia Detection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57784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Sub-problem / prototype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Detects silent or intermittent rhythm abnormalities before visible collapse.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Uses ECG electrodes, signal filtering, segmentation, and edge-friendly arrhythmia logic.</a:t>
            </a:r>
          </a:p>
          <a:p>
            <a:pPr algn="l"/>
            <a:r>
              <a:rPr sz="1700" b="1">
                <a:solidFill>
                  <a:srgbClr val="1F4E79"/>
                </a:solidFill>
              </a:rPr>
              <a:t>User requirements addressed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Stable skin contact, comfort for long wear, low latency, and simple caregiver warning output.</a:t>
            </a:r>
          </a:p>
          <a:p>
            <a:pPr algn="l"/>
            <a:r>
              <a:rPr sz="1700" b="1">
                <a:solidFill>
                  <a:srgbClr val="1F4E79"/>
                </a:solidFill>
              </a:rPr>
              <a:t>Design excellence / contribution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Links signal quality directly to strap engineering and wearability.</a:t>
            </a:r>
          </a:p>
        </p:txBody>
      </p:sp>
      <p:pic>
        <p:nvPicPr>
          <p:cNvPr id="5" name="Picture 4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676788"/>
            <a:ext cx="3657600" cy="1778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644652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E6E6E"/>
                </a:solidFill>
              </a:rPr>
              <a:t>Individual component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Phase 1: Arrhythmia Detection Component - Design Excellence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57784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Validation, novelty and user feedback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MIT-BIH provides evidence-based labelled data for model development.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Novelty lies in converting ECG complexity into simple escalation states for caregivers.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Positive feasibility and willingness-to-pay indicators strengthen practical value.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Contribution: introduces a hidden-cardiac-risk layer usually absent in budget wearables.</a:t>
            </a:r>
          </a:p>
        </p:txBody>
      </p:sp>
      <p:pic>
        <p:nvPicPr>
          <p:cNvPr id="5" name="Picture 4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621158"/>
            <a:ext cx="3657600" cy="18900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644652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E6E6E"/>
                </a:solidFill>
              </a:rPr>
              <a:t>Individual component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686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E1E1E"/>
                </a:solidFill>
              </a:rPr>
              <a:t>Component holder focus: explain the sub-problem, prototype logic, design contribution, and why this phase matters to elderly care.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F4E79"/>
                </a:solidFill>
              </a:rPr>
              <a:t>Phase 2: Fall Detection 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5394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6E6E6E"/>
                </a:solidFill>
              </a:rPr>
              <a:t>Contextual fall intelligence using SisFall and KFall motion datasets</a:t>
            </a:r>
          </a:p>
          <a:p>
            <a:r>
              <a:rPr sz="1400">
                <a:solidFill>
                  <a:srgbClr val="6E6E6E"/>
                </a:solidFill>
              </a:rPr>
              <a:t>Specialization: B.Sc. (Hons) in Information Technology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155" y="1325880"/>
            <a:ext cx="3240689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77440" y="6400800"/>
            <a:ext cx="6583680" cy="256032"/>
          </a:xfrm>
          <a:prstGeom prst="rect">
            <a:avLst/>
          </a:prstGeom>
          <a:solidFill>
            <a:srgbClr val="DBEA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E1E1E"/>
                </a:solidFill>
              </a:rPr>
              <a:t>R26-IT-108 | Smart Wearable Team | PP1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Phase 2: Fall Detection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57784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Sub-problem / prototype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Distinguishes real falls from activities of daily living using accelerometer and gyroscope data.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Uses impact, posture, free-fall, orientation change, and post-fall inactivity logic.</a:t>
            </a:r>
          </a:p>
          <a:p>
            <a:pPr algn="l"/>
            <a:r>
              <a:rPr sz="1700" b="1">
                <a:solidFill>
                  <a:srgbClr val="1F4E79"/>
                </a:solidFill>
              </a:rPr>
              <a:t>User requirements addressed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Reliable detection, low false alarms, lightweight wearability, and rapid caregiver escalation.</a:t>
            </a:r>
          </a:p>
          <a:p>
            <a:pPr algn="l"/>
            <a:r>
              <a:rPr sz="1700" b="1">
                <a:solidFill>
                  <a:srgbClr val="1F4E79"/>
                </a:solidFill>
              </a:rPr>
              <a:t>Design excellence / contribution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Combines threshold logic and machine learning for embedded feasibility and interpretability.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181930"/>
            <a:ext cx="3657600" cy="27684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644652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E6E6E"/>
                </a:solidFill>
              </a:rPr>
              <a:t>Individual component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Phase 2: Fall Detection Component - Design Excellence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57784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Validation, novelty and user feedback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Uses benchmark fall datasets rather than simple one-rule heuristics.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Novelty lies in treating falls as contextual sequences, not just acceleration spikes.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Supports affordable institutional and family use compared with premium-only alternatives.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Contribution: strengthens the overall safety role of the wearable.</a:t>
            </a:r>
          </a:p>
        </p:txBody>
      </p:sp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661554"/>
            <a:ext cx="3657600" cy="18092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644652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E6E6E"/>
                </a:solidFill>
              </a:rPr>
              <a:t>Individual component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686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E1E1E"/>
                </a:solidFill>
              </a:rPr>
              <a:t>Component holder focus: explain the sub-problem, prototype logic, design contribution, and why this phase matters to elderly care.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F4E79"/>
                </a:solidFill>
              </a:rPr>
              <a:t>Phase 3: Sepsis and Temperature-Correlation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5394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6E6E6E"/>
                </a:solidFill>
              </a:rPr>
              <a:t>Trend-based deterioration screening using MIMIC-III-informed logic</a:t>
            </a:r>
          </a:p>
          <a:p>
            <a:r>
              <a:rPr sz="1400">
                <a:solidFill>
                  <a:srgbClr val="6E6E6E"/>
                </a:solidFill>
              </a:rPr>
              <a:t>Specialization: B.Sc. (Hons) in Information Technology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044" y="1325880"/>
            <a:ext cx="303491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77440" y="6400800"/>
            <a:ext cx="6583680" cy="256032"/>
          </a:xfrm>
          <a:prstGeom prst="rect">
            <a:avLst/>
          </a:prstGeom>
          <a:solidFill>
            <a:srgbClr val="DBEA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E1E1E"/>
                </a:solidFill>
              </a:rPr>
              <a:t>R26-IT-108 | Smart Wearable Team | PP1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Phase 3: Sepsis and Temperature-Correlation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57784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Sub-problem / prototype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Flags abnormal temperature and physiology trends that may indicate deterioration or infection risk.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Combines skin temperature, heart-rate context, and time-window analysis.</a:t>
            </a:r>
          </a:p>
          <a:p>
            <a:pPr algn="l"/>
            <a:r>
              <a:rPr sz="1700" b="1">
                <a:solidFill>
                  <a:srgbClr val="1F4E79"/>
                </a:solidFill>
              </a:rPr>
              <a:t>User requirements addressed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Early warning, continuous observation, and simple low/moderate/high risk interpretation.</a:t>
            </a:r>
          </a:p>
          <a:p>
            <a:pPr algn="l"/>
            <a:r>
              <a:rPr sz="1700" b="1">
                <a:solidFill>
                  <a:srgbClr val="1F4E79"/>
                </a:solidFill>
              </a:rPr>
              <a:t>Design excellence / contribution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Carefully positioned as screening and escalation support, not diagnosis.</a:t>
            </a:r>
          </a:p>
        </p:txBody>
      </p:sp>
      <p:pic>
        <p:nvPicPr>
          <p:cNvPr id="5" name="Picture 4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04251"/>
            <a:ext cx="3657600" cy="272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644652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E6E6E"/>
                </a:solidFill>
              </a:rPr>
              <a:t>Individual component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Phase 3: Sepsis and Temperature-Correlation Screening - Design Excellence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57784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Validation, novelty and user feedback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Moves wearable monitoring beyond visible events into subtle physiological risk evolution.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Novelty comes from trend-based reasoning instead of one fixed fever threshold.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The report supports this component with feasibility, cost, and usefulness evidence.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Contribution: expands the product into post-discharge and high-risk monitoring contexts.</a:t>
            </a:r>
          </a:p>
        </p:txBody>
      </p:sp>
      <p:pic>
        <p:nvPicPr>
          <p:cNvPr id="5" name="Picture 4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662238"/>
            <a:ext cx="3657600" cy="18078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644652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E6E6E"/>
                </a:solidFill>
              </a:rPr>
              <a:t>Individual component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686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E1E1E"/>
                </a:solidFill>
              </a:rPr>
              <a:t>Component holder focus: explain the sub-problem, prototype logic, design contribution, and why this phase matters to elderly care.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F4E79"/>
                </a:solidFill>
              </a:rPr>
              <a:t>Phase 4: Stress, Pain and Neurological Distress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5394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6E6E6E"/>
                </a:solidFill>
              </a:rPr>
              <a:t>WESAD-inspired EDA-based distress monitoring for non-verbal elderly users</a:t>
            </a:r>
          </a:p>
          <a:p>
            <a:r>
              <a:rPr sz="1400">
                <a:solidFill>
                  <a:srgbClr val="6E6E6E"/>
                </a:solidFill>
              </a:rPr>
              <a:t>Specialization: B.Sc. (Hons) in Information Technology</a:t>
            </a:r>
          </a:p>
        </p:txBody>
      </p:sp>
      <p:pic>
        <p:nvPicPr>
          <p:cNvPr id="6" name="Picture 5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852" y="1325880"/>
            <a:ext cx="3227294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77440" y="6400800"/>
            <a:ext cx="6583680" cy="256032"/>
          </a:xfrm>
          <a:prstGeom prst="rect">
            <a:avLst/>
          </a:prstGeom>
          <a:solidFill>
            <a:srgbClr val="DBEA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E1E1E"/>
                </a:solidFill>
              </a:rPr>
              <a:t>R26-IT-108 | Smart Wearable Team | PP1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Phase 4: Stress, Pain and Neurological Distress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57784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Sub-problem / prototype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Detects elevated arousal, stress, or possible pain-related distress when users cannot explain discomfort clearly.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Uses GSR/EDA features with contextual physiological support.</a:t>
            </a:r>
          </a:p>
          <a:p>
            <a:pPr algn="l"/>
            <a:r>
              <a:rPr sz="1700" b="1">
                <a:solidFill>
                  <a:srgbClr val="1F4E79"/>
                </a:solidFill>
              </a:rPr>
              <a:t>User requirements addressed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Soft skin contact, minimal irritation, stable capture, and easy-to-understand local or remote alerts.</a:t>
            </a:r>
          </a:p>
          <a:p>
            <a:pPr algn="l"/>
            <a:r>
              <a:rPr sz="1700" b="1">
                <a:solidFill>
                  <a:srgbClr val="1F4E79"/>
                </a:solidFill>
              </a:rPr>
              <a:t>Design excellence / contribution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Extends the wearable from physical-event monitoring into hidden-state monitoring.</a:t>
            </a:r>
          </a:p>
        </p:txBody>
      </p:sp>
      <p:pic>
        <p:nvPicPr>
          <p:cNvPr id="5" name="Picture 4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191679"/>
            <a:ext cx="3657600" cy="27489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644652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E6E6E"/>
                </a:solidFill>
              </a:rPr>
              <a:t>Individual component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Phase 4: Stress, Pain and Neurological Distress Monitoring - Design Excellence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57784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Validation, novelty and user feedback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Uses affective-computing logic carefully adapted for elderly care.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The component is framed responsibly as distress support rather than direct pain diagnosis.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User usefulness indications and low-cost prototype reasoning support deployment relevance.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Contribution: creates a non-verbal caregiving intelligence channel uncommon in budget wearables.</a:t>
            </a:r>
          </a:p>
        </p:txBody>
      </p:sp>
      <p:pic>
        <p:nvPicPr>
          <p:cNvPr id="5" name="Picture 4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14870"/>
            <a:ext cx="3657600" cy="27025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644652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E6E6E"/>
                </a:solidFill>
              </a:rPr>
              <a:t>Individual component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37160"/>
            <a:ext cx="2560320" cy="566928"/>
          </a:xfrm>
          <a:prstGeom prst="rect">
            <a:avLst/>
          </a:prstGeom>
          <a:solidFill>
            <a:srgbClr val="DBEAF7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1E1E1E"/>
                </a:solidFill>
              </a:rPr>
              <a:t>PP1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Smart Multi-Sensor Wearable for Real-Time Elderly Health Anomaly and Fall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94360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>
                <a:solidFill>
                  <a:srgbClr val="1E1E1E"/>
                </a:solidFill>
              </a:rPr>
              <a:t>Commercialization and sustainability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Positioned between budget bands, premium smartwatches, and research wristbands.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Customer persona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Families with elderly parents, care homes, post-discharge monitoring contexts, and caregiver teams.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Market size and uniqueness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The unique value is four integrated elderly-care intelligence channels in one modular, affordable platform.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Cost recovery</a:t>
            </a:r>
          </a:p>
          <a:p>
            <a:pPr algn="l"/>
            <a:r>
              <a:rPr sz="1500">
                <a:solidFill>
                  <a:srgbClr val="1E1E1E"/>
                </a:solidFill>
              </a:rPr>
              <a:t>Hardware sales, optional dashboard subscription, institutional packages, and future service upgrades.</a:t>
            </a:r>
          </a:p>
        </p:txBody>
      </p:sp>
      <p:pic>
        <p:nvPicPr>
          <p:cNvPr id="5" name="Picture 4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60590"/>
            <a:ext cx="3657600" cy="27025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644652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E6E6E"/>
                </a:solidFill>
              </a:rPr>
              <a:t>Commercialization and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4008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E1E1E"/>
                </a:solidFill>
              </a:rPr>
              <a:t>R26-IT-108  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